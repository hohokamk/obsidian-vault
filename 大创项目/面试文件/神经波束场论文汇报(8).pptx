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4.svg" ContentType="image/svg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031DF2-D541-4DD5-A9E2-CB2D964484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各位老师好，我是信息学院计算机类大一本科生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你的姓名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。今天我将为大家汇报一篇关于神经波束场在空间波束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RSRP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预测方面应用的论文。这次汇报将围绕论文的研究背景、核心方法、实验结果以及我的个人思考展开。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首先，请允许我做个简单的自我介绍。我是信息学院计算机类的大一学生。大一学年，我修完了微积分、线性代数和概率论等核心数学课程，这为我理解论文中的数学模型打下了坚实基础。同时，我也掌握了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语言和面向对象编程，并主动自学了与论文相关的通信和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知识。我非常希望能加入课题组，从基础的软硬件开发和代码复现做起。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这是我大一的成绩单。我重点高亮了与论文密切相关的数学和编程课程。可以看到，我已经具备了阅读和理解这篇论文所需的基础数理和编程能力。在未来的学习中，我会继续补强通信和工程开发方面的知识。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进入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5G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和未来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6G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毫米波时代，基站越来越密集，波束数量也急剧增加。传统的全波束测量方法存在四大痛点：导频开销巨大、通信时延高、测量数据容易失效，并且现有的解决方案都存在明显缺陷。这正是本论文要解决的核心问题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例举传统方案有哪些（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CKM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插值，纯黑盒）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具体来看，传统方案各有弊端。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CKM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网格插值存储量大且精度差；纯深度学习模型缺乏物理约束，难以泛化；而早期的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NeRF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类无线模型则将环境与波束绑定，灵活性不足。为了解决这些问题，这篇论文提出了创新的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NBF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神经波束场方案。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这篇论文的核心创新主要体现在三个方面。首先，提出了全新的物理概念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，实现了环境与波束的解耦。其次，设计了黑盒加白盒的混合架构，兼具精度与可解释性。最后，通过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两阶段训练策略，有效解决了仿真数据与真实场景的偏差问题。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在系统模型方面，论文搭建了城区大规模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MIMO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多径信道场景。通过射线追踪技术生成仿真数据，并推导出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RSRP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的均值和方差解析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公式，为后续的白盒计算模块提供了坚实的理论基础。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NBF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的整体架构非常巧妙。黑盒部分是一个改进的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Transformer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网络，它负责从用户坐标中提取多径特征并输出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。白盒部分则是一个固定的物理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公式，它利用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快速计算出任意波束的接收功率。这种解耦设计是其核心优势所在。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为了让模型更好地工作，论文设计了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两阶段训练方案。第一阶段，利用大量仿真数据进行预训练，让模型学习物理规律。第二阶段，用少量真实数据进行微调，以适应真实环境的复杂性，同时保留预训练学到的知识。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dt" idx="64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本页已根据要求调整为左右两栏结构。左栏（约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60%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）展示了实验验证的两个核心方面：解析公式有效性验证和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NBF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整体性能验证。右栏（约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40%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）则清晰地列出了方案的四大优势（精度高、轻量化、鲁棒性强、泛化性好）以及两大劣势（存在推理时延、训练数据成本较高）。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ftr" idx="65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sldNum" idx="66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dt" idx="67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在我看来整篇论文最大的突破就是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环境波束解耦，从根源解决了旧模型通用性差的问题。这套方案可以用在城市基站波束调度、运营商网络规划、工业专网、低空无人机通信等场景；目前落地的主要阻碍是真实场景遮挡复杂、大规模实地数据采集成本偏高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ftr" idx="68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sldNum" idx="69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dt" idx="70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通过这次研读，我完整理清了论文的整体逻辑。虽然目前在高阶推导方面还有不足，但我已经制定了清晰的学习计划。我将继续夯实专业基础，并希望能借助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工具完成代码复现，积极参与到课题组的软硬件开发工作中。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ftr" idx="71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sldNum" idx="72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dt" idx="73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我的汇报到此结束，感谢各位老师的聆听。欢迎提问。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ftr" idx="74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sldNum" idx="75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s-C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120" cy="3262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120" cy="3262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F74E15E-0A2E-451F-B7F6-7792E64C155C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120" cy="6166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120" cy="27622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200" cy="6166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200" cy="27622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7BBA4F-D7F5-4485-858B-8FF10832B5A1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D1544A-A28F-4FDF-9C4E-6EC81DF9787D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FD2A07-FEAD-4BE8-BF5D-6EF767F3EC92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040" cy="11991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160" cy="36540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18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24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24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24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24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040" cy="28576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8CE5B2-2500-4A66-BC84-7174085FE37F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040" cy="11991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160" cy="365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040" cy="28576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EF65D6-E252-47E3-96EC-90E7A2E874BD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4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2876D9-3829-4AB8-9C76-692A385BA62C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 rot="5400000">
            <a:off x="2941200" y="-941760"/>
            <a:ext cx="3262320" cy="78858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0B3020-B787-4997-8B09-C0637F44338C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 rot="5400000">
            <a:off x="5351040" y="1467360"/>
            <a:ext cx="4357800" cy="19706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 rot="5400000">
            <a:off x="1350360" y="-446040"/>
            <a:ext cx="4357800" cy="5799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962C6A-1D76-4A91-9C51-42928B5E036E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5800" cy="3262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CD8E51-B7ED-4865-AB80-EFF6313604DE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5800" cy="2138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CN" sz="4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5800" cy="11239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4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98DB8CE-5163-40B1-AF84-4257CF3F25E0}" type="slidenum">
              <a:rPr lang="en-US" sz="9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&lt;编号&gt;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主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716040"/>
            <a:ext cx="10971720" cy="25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09480" y="3297960"/>
            <a:ext cx="10971720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172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AutoShape 2"/>
          <p:cNvSpPr/>
          <p:nvPr/>
        </p:nvSpPr>
        <p:spPr>
          <a:xfrm>
            <a:off x="0" y="0"/>
            <a:ext cx="12191040" cy="685692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AutoShape 3"/>
          <p:cNvSpPr/>
          <p:nvPr/>
        </p:nvSpPr>
        <p:spPr>
          <a:xfrm>
            <a:off x="1015920" y="3570120"/>
            <a:ext cx="10158840" cy="1141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神经波束场：空间波束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预测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AutoShape 4"/>
          <p:cNvSpPr/>
          <p:nvPr/>
        </p:nvSpPr>
        <p:spPr>
          <a:xfrm>
            <a:off x="931320" y="2159640"/>
            <a:ext cx="10158840" cy="11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Arvo"/>
                <a:ea typeface="Arvo"/>
              </a:rPr>
              <a:t>Neural Beam Field for Spatial Beam RSRP Prediction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utoShape 5"/>
          <p:cNvSpPr/>
          <p:nvPr/>
        </p:nvSpPr>
        <p:spPr>
          <a:xfrm>
            <a:off x="1015920" y="5715000"/>
            <a:ext cx="10158840" cy="1141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汇报人：王冠群 </a:t>
            </a:r>
            <a:r>
              <a:rPr lang="en-US" sz="190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| </a:t>
            </a:r>
            <a:r>
              <a:rPr lang="zh-CN" sz="190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信息学院 计算机类 </a:t>
            </a:r>
            <a:r>
              <a:rPr lang="en-US" sz="190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2025</a:t>
            </a:r>
            <a:r>
              <a:rPr lang="zh-CN" sz="190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级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AutoShape 2"/>
          <p:cNvSpPr/>
          <p:nvPr/>
        </p:nvSpPr>
        <p:spPr>
          <a:xfrm>
            <a:off x="762120" y="101592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6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个人简介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AutoShape 3"/>
          <p:cNvSpPr/>
          <p:nvPr/>
        </p:nvSpPr>
        <p:spPr>
          <a:xfrm>
            <a:off x="762120" y="1595160"/>
            <a:ext cx="10666800" cy="5078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基础信息：</a:t>
            </a:r>
            <a:r>
              <a:rPr lang="zh-CN" sz="19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王冠群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/ 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专业：计算机类 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/ 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年级：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2025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学业概况：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GPA 3.20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，已修完微积分、线性代数、概率论与数理统计等基础课程。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核心基础：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掌握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C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语言、面向对象编程；自学 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MIMO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与</a:t>
            </a: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sinr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r>
              <a:rPr lang="en-US" sz="19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NeRF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r>
              <a:rPr lang="en-US" sz="19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Transformer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、相控阵天线、无线频道与信道、</a:t>
            </a:r>
            <a:r>
              <a:rPr lang="zh-CN" sz="19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射线追踪技术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r>
              <a:rPr lang="zh-CN" sz="19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信道知识地图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、多径传播、边缘部署的知识。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欠缺知识：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认识到在支撑论文深入研究的专业知识上存在短板：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796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- </a:t>
            </a:r>
            <a:r>
              <a:rPr lang="zh-CN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信号类数学：缺少信号与系统、随机过程相关知识。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796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- </a:t>
            </a:r>
            <a:r>
              <a:rPr lang="zh-CN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几何类数学：未系统学习计算几何、微分几何。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796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- </a:t>
            </a:r>
            <a:r>
              <a:rPr lang="zh-CN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优化数学：凸优化、数值优化内容尚未接触。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796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- </a:t>
            </a:r>
            <a:r>
              <a:rPr lang="zh-CN" sz="1900" b="0" u="none" strike="noStrike">
                <a:solidFill>
                  <a:srgbClr val="505050"/>
                </a:solidFill>
                <a:effectLst/>
                <a:uFillTx/>
                <a:latin typeface="Noto Sans SC"/>
                <a:ea typeface="Noto Sans SC"/>
              </a:rPr>
              <a:t>专业基础：无线通信原理、电磁场等课程也还未学习。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科研意向：</a:t>
            </a:r>
            <a:r>
              <a:rPr lang="zh-CN" sz="190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希望加入课题组参与软硬件开发、论文复现等项目。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AutoShape 2"/>
          <p:cNvSpPr/>
          <p:nvPr/>
        </p:nvSpPr>
        <p:spPr>
          <a:xfrm>
            <a:off x="627840" y="63504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大一学年成绩单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AutoShape 3"/>
          <p:cNvSpPr/>
          <p:nvPr/>
        </p:nvSpPr>
        <p:spPr>
          <a:xfrm>
            <a:off x="7806240" y="1015920"/>
            <a:ext cx="4316760" cy="48250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22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核心课程成绩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• 微积分</a:t>
            </a: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(I): 86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• 微积分</a:t>
            </a: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(II): 76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• 线性代数</a:t>
            </a: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(A): 81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• 概率统计</a:t>
            </a: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(A): 80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• C</a:t>
            </a:r>
            <a:r>
              <a:rPr lang="zh-CN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语言程序设计</a:t>
            </a: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: 77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• 面向对象程序设计</a:t>
            </a:r>
            <a:r>
              <a:rPr lang="en-US" sz="16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: 73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icture 4"/>
          <p:cNvSpPr/>
          <p:nvPr/>
        </p:nvSpPr>
        <p:spPr>
          <a:xfrm>
            <a:off x="475200" y="1790640"/>
            <a:ext cx="6544080" cy="4148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2"/>
          <p:cNvSpPr/>
          <p:nvPr/>
        </p:nvSpPr>
        <p:spPr>
          <a:xfrm>
            <a:off x="0" y="0"/>
            <a:ext cx="12191040" cy="6856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solidFill>
              <a:srgbClr val="E6CFC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AutoShape 3"/>
          <p:cNvSpPr/>
          <p:nvPr/>
        </p:nvSpPr>
        <p:spPr>
          <a:xfrm>
            <a:off x="762120" y="63504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研究背景与现存痛点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AutoShape 4"/>
          <p:cNvSpPr/>
          <p:nvPr/>
        </p:nvSpPr>
        <p:spPr>
          <a:xfrm>
            <a:off x="762120" y="177804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Noto Sans SC"/>
                <a:ea typeface="Noto Sans SC"/>
              </a:rPr>
              <a:t>5G/6G</a:t>
            </a:r>
            <a:r>
              <a:rPr lang="zh-CN" sz="1800" b="0" u="none" strike="noStrike">
                <a:solidFill>
                  <a:srgbClr val="444444"/>
                </a:solidFill>
                <a:effectLst/>
                <a:uFillTx/>
                <a:latin typeface="Noto Sans SC"/>
                <a:ea typeface="Noto Sans SC"/>
              </a:rPr>
              <a:t>高频毫米波时代，基站密集，波束数量激增。获取信道状态信息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Noto Sans SC"/>
                <a:ea typeface="Noto Sans SC"/>
              </a:rPr>
              <a:t>(CSI)</a:t>
            </a:r>
            <a:r>
              <a:rPr lang="zh-CN" sz="1800" b="0" u="none" strike="noStrike">
                <a:solidFill>
                  <a:srgbClr val="444444"/>
                </a:solidFill>
                <a:effectLst/>
                <a:uFillTx/>
                <a:latin typeface="Noto Sans SC"/>
                <a:ea typeface="Noto Sans SC"/>
              </a:rPr>
              <a:t>开销巨大。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AutoShape 5"/>
          <p:cNvSpPr/>
          <p:nvPr/>
        </p:nvSpPr>
        <p:spPr>
          <a:xfrm>
            <a:off x="762120" y="3048120"/>
            <a:ext cx="10666800" cy="3555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1. 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开销巨大：</a:t>
            </a:r>
            <a:r>
              <a:rPr lang="zh-CN" sz="200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全波束测量导频开销大。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2. 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时延偏高：</a:t>
            </a:r>
            <a:r>
              <a:rPr lang="zh-CN" sz="200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逐次测量通信时延高。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3. 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数据失效：</a:t>
            </a:r>
            <a:r>
              <a:rPr lang="zh-CN" sz="200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信道相干时间短，数据易失效。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4. 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方案缺陷：</a:t>
            </a:r>
            <a:r>
              <a:rPr lang="zh-CN" sz="200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传统方案均有明显短板。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utoShape 2"/>
          <p:cNvSpPr/>
          <p:nvPr/>
        </p:nvSpPr>
        <p:spPr>
          <a:xfrm>
            <a:off x="0" y="0"/>
            <a:ext cx="12191040" cy="6856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AutoShape 3"/>
          <p:cNvSpPr/>
          <p:nvPr/>
        </p:nvSpPr>
        <p:spPr>
          <a:xfrm>
            <a:off x="762120" y="63504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传统方案缺陷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AutoShape 4"/>
          <p:cNvSpPr/>
          <p:nvPr/>
        </p:nvSpPr>
        <p:spPr>
          <a:xfrm>
            <a:off x="1523880" y="1905120"/>
            <a:ext cx="4316760" cy="3047040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AutoShape 5"/>
          <p:cNvSpPr/>
          <p:nvPr/>
        </p:nvSpPr>
        <p:spPr>
          <a:xfrm>
            <a:off x="1778040" y="2158920"/>
            <a:ext cx="3808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CKM</a:t>
            </a:r>
            <a:r>
              <a:rPr lang="zh-CN" sz="2000" b="1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网格插值 </a:t>
            </a: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(Channel Knowledge Map)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6"/>
          <p:cNvCxnSpPr/>
          <p:nvPr/>
        </p:nvCxnSpPr>
        <p:spPr>
          <a:xfrm>
            <a:off x="1777680" y="3111480"/>
            <a:ext cx="3811320" cy="1080"/>
          </a:xfrm>
          <a:prstGeom prst="straightConnector1">
            <a:avLst/>
          </a:prstGeom>
          <a:ln w="12700">
            <a:solidFill>
              <a:srgbClr val="CED4DA"/>
            </a:solidFill>
            <a:round/>
          </a:ln>
        </p:spPr>
      </p:cxnSp>
      <p:sp>
        <p:nvSpPr>
          <p:cNvPr id="87" name="AutoShape 7"/>
          <p:cNvSpPr/>
          <p:nvPr/>
        </p:nvSpPr>
        <p:spPr>
          <a:xfrm>
            <a:off x="1778040" y="3429000"/>
            <a:ext cx="3808800" cy="126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zh-CN" sz="1900" b="0" u="none" strike="noStrike">
                <a:solidFill>
                  <a:srgbClr val="495057"/>
                </a:solidFill>
                <a:effectLst/>
                <a:uFillTx/>
                <a:latin typeface="Noto Sans SC"/>
                <a:ea typeface="Noto Sans SC"/>
              </a:rPr>
              <a:t>存储大、精度差、成本高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AutoShape 8"/>
          <p:cNvSpPr/>
          <p:nvPr/>
        </p:nvSpPr>
        <p:spPr>
          <a:xfrm>
            <a:off x="6350040" y="1905120"/>
            <a:ext cx="4316760" cy="3047040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AutoShape 9"/>
          <p:cNvSpPr/>
          <p:nvPr/>
        </p:nvSpPr>
        <p:spPr>
          <a:xfrm>
            <a:off x="6603840" y="2158920"/>
            <a:ext cx="3808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纯深度学习黑盒 </a:t>
            </a: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(Black-box DNN)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10"/>
          <p:cNvCxnSpPr/>
          <p:nvPr/>
        </p:nvCxnSpPr>
        <p:spPr>
          <a:xfrm>
            <a:off x="6603840" y="3111480"/>
            <a:ext cx="3810960" cy="1080"/>
          </a:xfrm>
          <a:prstGeom prst="straightConnector1">
            <a:avLst/>
          </a:prstGeom>
          <a:ln w="12700">
            <a:solidFill>
              <a:srgbClr val="CED4DA"/>
            </a:solidFill>
            <a:round/>
          </a:ln>
        </p:spPr>
      </p:cxnSp>
      <p:sp>
        <p:nvSpPr>
          <p:cNvPr id="91" name="AutoShape 11"/>
          <p:cNvSpPr/>
          <p:nvPr/>
        </p:nvSpPr>
        <p:spPr>
          <a:xfrm>
            <a:off x="6603840" y="3429000"/>
            <a:ext cx="3808800" cy="126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zh-CN" sz="1900" b="0" u="none" strike="noStrike">
                <a:solidFill>
                  <a:srgbClr val="495057"/>
                </a:solidFill>
                <a:effectLst/>
                <a:uFillTx/>
                <a:latin typeface="Noto Sans SC"/>
                <a:ea typeface="Noto Sans SC"/>
              </a:rPr>
              <a:t>无物理约束、易过拟合、无泛化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AutoShape 12"/>
          <p:cNvSpPr/>
          <p:nvPr/>
        </p:nvSpPr>
        <p:spPr>
          <a:xfrm>
            <a:off x="1015920" y="5207040"/>
            <a:ext cx="10158840" cy="1269000"/>
          </a:xfrm>
          <a:prstGeom prst="roundRect">
            <a:avLst>
              <a:gd name="adj" fmla="val 0"/>
            </a:avLst>
          </a:prstGeom>
          <a:solidFill>
            <a:srgbClr val="EBF5FB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1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97160" y="558792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AutoShape 14"/>
          <p:cNvSpPr/>
          <p:nvPr/>
        </p:nvSpPr>
        <p:spPr>
          <a:xfrm>
            <a:off x="2286000" y="5334120"/>
            <a:ext cx="8634960" cy="101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6000"/>
              </a:lnSpc>
              <a:tabLst>
                <a:tab pos="0" algn="l"/>
              </a:tabLst>
            </a:pPr>
            <a:r>
              <a:rPr lang="zh-CN" sz="1700" b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本文提出的</a:t>
            </a:r>
            <a:r>
              <a:rPr lang="en-US" sz="1940" b="1" u="none" strike="noStrike">
                <a:solidFill>
                  <a:srgbClr val="138D75"/>
                </a:solidFill>
                <a:effectLst/>
                <a:uFillTx/>
                <a:latin typeface="Noto Sans SC"/>
                <a:ea typeface="Noto Sans SC"/>
              </a:rPr>
              <a:t>NBF</a:t>
            </a:r>
            <a:r>
              <a:rPr lang="zh-CN" sz="1940" b="1" u="none" strike="noStrike">
                <a:solidFill>
                  <a:srgbClr val="138D75"/>
                </a:solidFill>
                <a:effectLst/>
                <a:uFillTx/>
                <a:latin typeface="Noto Sans SC"/>
                <a:ea typeface="Noto Sans SC"/>
              </a:rPr>
              <a:t>神经波束场（</a:t>
            </a:r>
            <a:r>
              <a:rPr lang="en-US" sz="1940" b="1" u="none" strike="noStrike">
                <a:solidFill>
                  <a:srgbClr val="138D75"/>
                </a:solidFill>
                <a:effectLst/>
                <a:uFillTx/>
                <a:latin typeface="Noto Sans SC"/>
                <a:ea typeface="Noto Sans SC"/>
              </a:rPr>
              <a:t>Neural Beam Field</a:t>
            </a:r>
            <a:r>
              <a:rPr lang="zh-CN" sz="1940" b="1" u="none" strike="noStrike">
                <a:solidFill>
                  <a:srgbClr val="138D75"/>
                </a:solidFill>
                <a:effectLst/>
                <a:uFillTx/>
                <a:latin typeface="Noto Sans SC"/>
                <a:ea typeface="Noto Sans SC"/>
              </a:rPr>
              <a:t>）</a:t>
            </a:r>
            <a:r>
              <a:rPr lang="zh-CN" sz="1700" b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，灵感来源于计算机视觉领域的神经辐射场（</a:t>
            </a:r>
            <a:r>
              <a:rPr lang="en-US" sz="1700" b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NeRF</a:t>
            </a:r>
            <a:r>
              <a:rPr lang="zh-CN" sz="1700" b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），通过融合物理先验与神经网络优势，解决了上述传统方案的痛点。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AutoShape 2"/>
          <p:cNvSpPr/>
          <p:nvPr/>
        </p:nvSpPr>
        <p:spPr>
          <a:xfrm>
            <a:off x="762120" y="101592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本文三大核心创新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utoShape 3"/>
          <p:cNvSpPr/>
          <p:nvPr/>
        </p:nvSpPr>
        <p:spPr>
          <a:xfrm>
            <a:off x="762120" y="2793960"/>
            <a:ext cx="10666800" cy="101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66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1.</a:t>
            </a:r>
            <a:r>
              <a:rPr lang="zh-CN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物理新概念</a:t>
            </a:r>
            <a:r>
              <a:rPr lang="en-US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: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MCPP (Multi-path Conditional Power Profile)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多径条件功率剖面，实现环境与波束解耦。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AutoShape 4"/>
          <p:cNvSpPr/>
          <p:nvPr/>
        </p:nvSpPr>
        <p:spPr>
          <a:xfrm>
            <a:off x="762120" y="3809880"/>
            <a:ext cx="10666800" cy="101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66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2.</a:t>
            </a:r>
            <a:r>
              <a:rPr lang="zh-CN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架构创新</a:t>
            </a:r>
            <a:r>
              <a:rPr lang="en-US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: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“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黑盒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-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白盒”解耦框架 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(Black-box/White-box Design)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。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AutoShape 5"/>
          <p:cNvSpPr/>
          <p:nvPr/>
        </p:nvSpPr>
        <p:spPr>
          <a:xfrm>
            <a:off x="762120" y="4826160"/>
            <a:ext cx="10666800" cy="101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66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3.</a:t>
            </a:r>
            <a:r>
              <a:rPr lang="zh-CN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训练创新</a:t>
            </a:r>
            <a:r>
              <a:rPr lang="en-US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: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PaC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策略 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(Pretrain-and-Calibrate Strategy)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。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AutoShape 2"/>
          <p:cNvSpPr/>
          <p:nvPr/>
        </p:nvSpPr>
        <p:spPr>
          <a:xfrm>
            <a:off x="720000" y="67824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信道系统建模与仿真基础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AutoShape 3"/>
          <p:cNvSpPr/>
          <p:nvPr/>
        </p:nvSpPr>
        <p:spPr>
          <a:xfrm>
            <a:off x="720000" y="153648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660" b="0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r>
              <a:rPr lang="zh-CN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场景：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城区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Massive MIMO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多径信道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AutoShape 4"/>
          <p:cNvSpPr/>
          <p:nvPr/>
        </p:nvSpPr>
        <p:spPr>
          <a:xfrm>
            <a:off x="720000" y="216000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660" b="0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r>
              <a:rPr lang="zh-CN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数据：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射线追踪 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(Ray-tracing) 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技术生成仿真数据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AutoShape 5"/>
          <p:cNvSpPr/>
          <p:nvPr/>
        </p:nvSpPr>
        <p:spPr>
          <a:xfrm>
            <a:off x="720000" y="2921760"/>
            <a:ext cx="10666800" cy="58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660" b="0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r>
              <a:rPr lang="zh-CN" sz="218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理论：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推导</a:t>
            </a:r>
            <a:r>
              <a:rPr lang="en-US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r>
              <a:rPr lang="zh-CN" sz="218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均值、方差解析公式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AutoShape 6"/>
          <p:cNvSpPr/>
          <p:nvPr/>
        </p:nvSpPr>
        <p:spPr>
          <a:xfrm>
            <a:off x="720000" y="4680000"/>
            <a:ext cx="2837160" cy="719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两大核心目的</a:t>
            </a:r>
            <a:r>
              <a:rPr lang="en-US" sz="24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AutoShape 7"/>
          <p:cNvSpPr/>
          <p:nvPr/>
        </p:nvSpPr>
        <p:spPr>
          <a:xfrm>
            <a:off x="720000" y="4093920"/>
            <a:ext cx="1992960" cy="405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r>
              <a:rPr lang="zh-CN" sz="21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工具</a:t>
            </a:r>
            <a:r>
              <a:rPr lang="zh-CN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：</a:t>
            </a:r>
            <a:r>
              <a:rPr lang="en-US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MatLab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AutoShape 8"/>
          <p:cNvSpPr/>
          <p:nvPr/>
        </p:nvSpPr>
        <p:spPr>
          <a:xfrm>
            <a:off x="720000" y="3600000"/>
            <a:ext cx="4062960" cy="405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r>
              <a:rPr lang="zh-CN" sz="21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核心方法</a:t>
            </a:r>
            <a:r>
              <a:rPr lang="zh-CN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：依托 </a:t>
            </a:r>
            <a:r>
              <a:rPr lang="en-US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MCPP </a:t>
            </a:r>
            <a:r>
              <a:rPr lang="zh-CN" sz="210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实现环境、波束解耦 （环境与波束）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40000" y="5220000"/>
            <a:ext cx="9719280" cy="12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理论层面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：通过完整数学推导定义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，从公式层面证明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 </a:t>
            </a: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仅存储场地固有多径传播特征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，与波束、天线配置完全无关，完成环境与硬件参数解耦，为整套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NBF 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框架提供理论支撑；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工程层面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：生成带真值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 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标签、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RSRP 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样本的</a:t>
            </a: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数据集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，用于模型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 </a:t>
            </a:r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预训练、实验验证与对比测试。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utoShape 2"/>
          <p:cNvSpPr/>
          <p:nvPr/>
        </p:nvSpPr>
        <p:spPr>
          <a:xfrm>
            <a:off x="0" y="0"/>
            <a:ext cx="12191040" cy="6856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AutoShape 3"/>
          <p:cNvSpPr/>
          <p:nvPr/>
        </p:nvSpPr>
        <p:spPr>
          <a:xfrm>
            <a:off x="762120" y="101592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NBF</a:t>
            </a:r>
            <a:r>
              <a:rPr lang="zh-CN" sz="28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架构 </a:t>
            </a:r>
            <a:r>
              <a:rPr lang="en-US" sz="28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(NBF Architecture)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AutoShape 4"/>
          <p:cNvSpPr/>
          <p:nvPr/>
        </p:nvSpPr>
        <p:spPr>
          <a:xfrm>
            <a:off x="762120" y="2540160"/>
            <a:ext cx="10666800" cy="1776960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AutoShape 5"/>
          <p:cNvSpPr/>
          <p:nvPr/>
        </p:nvSpPr>
        <p:spPr>
          <a:xfrm>
            <a:off x="762120" y="2540160"/>
            <a:ext cx="75240" cy="1776960"/>
          </a:xfrm>
          <a:prstGeom prst="roundRect">
            <a:avLst>
              <a:gd name="adj" fmla="val 0"/>
            </a:avLst>
          </a:prstGeom>
          <a:solidFill>
            <a:srgbClr val="48D1CC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AutoShape 6"/>
          <p:cNvSpPr/>
          <p:nvPr/>
        </p:nvSpPr>
        <p:spPr>
          <a:xfrm>
            <a:off x="1905120" y="2857680"/>
            <a:ext cx="8888760" cy="45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黑盒模块 </a:t>
            </a: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(Black-box)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：通过坐标得到</a:t>
            </a: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MCPP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AutoShape 7"/>
          <p:cNvSpPr/>
          <p:nvPr/>
        </p:nvSpPr>
        <p:spPr>
          <a:xfrm>
            <a:off x="1905120" y="3429000"/>
            <a:ext cx="9270000" cy="887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Transformer</a:t>
            </a: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网络 </a:t>
            </a:r>
            <a:r>
              <a:rPr lang="en-US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+ </a:t>
            </a: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可学习</a:t>
            </a:r>
            <a:r>
              <a:rPr lang="en-US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Token</a:t>
            </a: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，输入坐标，输出</a:t>
            </a:r>
            <a:r>
              <a:rPr lang="en-US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MCPP</a:t>
            </a: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AutoShape 8"/>
          <p:cNvSpPr/>
          <p:nvPr/>
        </p:nvSpPr>
        <p:spPr>
          <a:xfrm>
            <a:off x="762120" y="4635360"/>
            <a:ext cx="10666800" cy="1776960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AutoShape 9"/>
          <p:cNvSpPr/>
          <p:nvPr/>
        </p:nvSpPr>
        <p:spPr>
          <a:xfrm>
            <a:off x="723960" y="4635360"/>
            <a:ext cx="75240" cy="1776960"/>
          </a:xfrm>
          <a:prstGeom prst="roundRect">
            <a:avLst>
              <a:gd name="adj" fmla="val 0"/>
            </a:avLst>
          </a:prstGeom>
          <a:solidFill>
            <a:srgbClr val="48D1CC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AutoShape 10"/>
          <p:cNvSpPr/>
          <p:nvPr/>
        </p:nvSpPr>
        <p:spPr>
          <a:xfrm>
            <a:off x="1910520" y="4943160"/>
            <a:ext cx="8888760" cy="45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白盒模块 </a:t>
            </a: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(White-box):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通过</a:t>
            </a: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MCPP</a:t>
            </a:r>
            <a:r>
              <a:rPr lang="zh-CN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得到</a:t>
            </a: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AutoShape 11"/>
          <p:cNvSpPr/>
          <p:nvPr/>
        </p:nvSpPr>
        <p:spPr>
          <a:xfrm>
            <a:off x="1905120" y="5715000"/>
            <a:ext cx="9270000" cy="506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6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嵌入</a:t>
            </a:r>
            <a:r>
              <a:rPr lang="en-US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物理计算公式，输入</a:t>
            </a:r>
            <a:r>
              <a:rPr lang="en-US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MCPP</a:t>
            </a:r>
            <a:r>
              <a:rPr lang="zh-CN" sz="1600" b="0" u="none" strike="noStrike">
                <a:solidFill>
                  <a:srgbClr val="525252"/>
                </a:solidFill>
                <a:effectLst/>
                <a:uFillTx/>
                <a:latin typeface="Noto Sans SC"/>
                <a:ea typeface="Noto Sans SC"/>
              </a:rPr>
              <a:t>，输出接收功率。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oShape 2"/>
          <p:cNvSpPr/>
          <p:nvPr/>
        </p:nvSpPr>
        <p:spPr>
          <a:xfrm>
            <a:off x="762120" y="111960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PaC</a:t>
            </a:r>
            <a:r>
              <a:rPr lang="zh-CN" sz="26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两阶段训练方案 </a:t>
            </a:r>
            <a:r>
              <a:rPr lang="en-US" sz="26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(Pretrain-and-Calibrate Strategy)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AutoShape 3"/>
          <p:cNvSpPr/>
          <p:nvPr/>
        </p:nvSpPr>
        <p:spPr>
          <a:xfrm>
            <a:off x="1015920" y="2286000"/>
            <a:ext cx="5078880" cy="38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阶段</a:t>
            </a:r>
            <a:r>
              <a:rPr lang="en-US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1</a:t>
            </a:r>
            <a:r>
              <a:rPr lang="zh-CN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：预训练 </a:t>
            </a:r>
            <a:r>
              <a:rPr lang="en-US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(Pretraining)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174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数据：</a:t>
            </a:r>
            <a:r>
              <a:rPr lang="zh-CN" sz="174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射线追踪仿真数据</a:t>
            </a:r>
            <a:endParaRPr lang="en-US" sz="1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zh-CN" sz="174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目标：</a:t>
            </a:r>
            <a:r>
              <a:rPr lang="zh-CN" sz="174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让网络学习通用多径传播先验，避免微调时遗忘物理特性。</a:t>
            </a:r>
            <a:endParaRPr lang="en-US" sz="1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AutoShape 4"/>
          <p:cNvSpPr/>
          <p:nvPr/>
        </p:nvSpPr>
        <p:spPr>
          <a:xfrm>
            <a:off x="6603840" y="2286000"/>
            <a:ext cx="5078880" cy="38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阶段</a:t>
            </a:r>
            <a:r>
              <a:rPr lang="en-US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2</a:t>
            </a:r>
            <a:r>
              <a:rPr lang="zh-CN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：现场校准微调 </a:t>
            </a:r>
            <a:r>
              <a:rPr lang="en-US" sz="2400" b="1" u="none" strike="noStrike">
                <a:solidFill>
                  <a:srgbClr val="48D1CC"/>
                </a:solidFill>
                <a:effectLst/>
                <a:uFillTx/>
                <a:latin typeface="Noto Sans SC"/>
                <a:ea typeface="Noto Sans SC"/>
              </a:rPr>
              <a:t>(Calibration)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174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数据：</a:t>
            </a:r>
            <a:r>
              <a:rPr lang="zh-CN" sz="174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少量真实</a:t>
            </a:r>
            <a:r>
              <a:rPr lang="en-US" sz="174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r>
              <a:rPr lang="zh-CN" sz="174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数据</a:t>
            </a:r>
            <a:endParaRPr lang="en-US" sz="1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174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目标：</a:t>
            </a:r>
            <a:r>
              <a:rPr lang="zh-CN" sz="1740" b="0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解决仿真与真实场景域偏移，保留物理先验</a:t>
            </a:r>
            <a:endParaRPr lang="en-US" sz="1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AutoShape 2"/>
          <p:cNvSpPr/>
          <p:nvPr/>
        </p:nvSpPr>
        <p:spPr>
          <a:xfrm>
            <a:off x="1080" y="1080"/>
            <a:ext cx="12191040" cy="6856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762120" y="507960"/>
            <a:ext cx="10666800" cy="63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3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实验验证与优势劣势分析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62120" y="1778040"/>
            <a:ext cx="6094800" cy="379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008B8B"/>
                </a:solidFill>
                <a:effectLst/>
                <a:uFillTx/>
                <a:latin typeface="Noto Sans SC"/>
                <a:ea typeface="Noto Sans SC"/>
              </a:rPr>
              <a:t>实验验证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762120" y="2413080"/>
            <a:ext cx="5039280" cy="203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1. </a:t>
            </a:r>
            <a:r>
              <a:rPr lang="zh-CN" sz="215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解析公式有效性验证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1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通过仿真数据，验证从</a:t>
            </a:r>
            <a:r>
              <a:rPr lang="en-US" sz="201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MCPP</a:t>
            </a:r>
            <a:r>
              <a:rPr lang="zh-CN" sz="201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推导波束</a:t>
            </a:r>
            <a:r>
              <a:rPr lang="en-US" sz="201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RSRP</a:t>
            </a:r>
            <a:r>
              <a:rPr lang="zh-CN" sz="201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均值与方差的解析公式的物理一致性与准确性。</a:t>
            </a:r>
            <a:endParaRPr lang="en-US" sz="2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AutoShape 6"/>
          <p:cNvSpPr/>
          <p:nvPr/>
        </p:nvSpPr>
        <p:spPr>
          <a:xfrm>
            <a:off x="762120" y="4317840"/>
            <a:ext cx="6094800" cy="203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2. NBF</a:t>
            </a:r>
            <a:r>
              <a:rPr lang="zh-CN" sz="217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整体性能验证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空间热力图可视化对比</a:t>
            </a:r>
            <a:endParaRPr lang="en-US" sz="20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定量指标对比（</a:t>
            </a:r>
            <a:r>
              <a:rPr lang="en-US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MAE</a:t>
            </a: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、模型大小等）</a:t>
            </a:r>
            <a:endParaRPr lang="en-US" sz="20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不同采样量下的</a:t>
            </a:r>
            <a:r>
              <a:rPr lang="en-US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MAE</a:t>
            </a: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对比</a:t>
            </a:r>
            <a:endParaRPr lang="en-US" sz="20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验证了</a:t>
            </a:r>
            <a:r>
              <a:rPr lang="en-US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NBF</a:t>
            </a:r>
            <a:r>
              <a:rPr lang="zh-CN" sz="2029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的综合性能优势。</a:t>
            </a:r>
            <a:endParaRPr lang="en-US" sz="20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AutoShape 7"/>
          <p:cNvSpPr/>
          <p:nvPr/>
        </p:nvSpPr>
        <p:spPr>
          <a:xfrm>
            <a:off x="7873920" y="1778040"/>
            <a:ext cx="3555000" cy="379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008B8B"/>
                </a:solidFill>
                <a:effectLst/>
                <a:uFillTx/>
                <a:latin typeface="Noto Sans SC"/>
                <a:ea typeface="Noto Sans SC"/>
              </a:rPr>
              <a:t>优势与劣势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AutoShape 8"/>
          <p:cNvSpPr/>
          <p:nvPr/>
        </p:nvSpPr>
        <p:spPr>
          <a:xfrm>
            <a:off x="7873920" y="2413080"/>
            <a:ext cx="3555000" cy="203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优势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• 精度高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• 模型轻量化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• 环境鲁棒性强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• 跨配置泛化性好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AutoShape 9"/>
          <p:cNvSpPr/>
          <p:nvPr/>
        </p:nvSpPr>
        <p:spPr>
          <a:xfrm>
            <a:off x="7873920" y="4597200"/>
            <a:ext cx="3555000" cy="1522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劣势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• 存在推理时延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• 训练数据成本较高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utoShape 2"/>
          <p:cNvSpPr/>
          <p:nvPr/>
        </p:nvSpPr>
        <p:spPr>
          <a:xfrm>
            <a:off x="762120" y="66348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我的想法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AutoShape 3"/>
          <p:cNvSpPr/>
          <p:nvPr/>
        </p:nvSpPr>
        <p:spPr>
          <a:xfrm>
            <a:off x="762120" y="1715760"/>
            <a:ext cx="9905040" cy="379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惊讶的突破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AutoShape 4"/>
          <p:cNvSpPr/>
          <p:nvPr/>
        </p:nvSpPr>
        <p:spPr>
          <a:xfrm>
            <a:off x="762120" y="2227680"/>
            <a:ext cx="9905040" cy="1522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29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通过“解耦”与“预训练</a:t>
            </a:r>
            <a:r>
              <a:rPr lang="en-US" sz="2029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+</a:t>
            </a:r>
            <a:r>
              <a:rPr lang="zh-CN" sz="2029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微调”的结合，成功实现了高效的</a:t>
            </a:r>
            <a:r>
              <a:rPr lang="zh-CN" sz="2029" b="1" u="none" strike="noStrike">
                <a:solidFill>
                  <a:srgbClr val="333333"/>
                </a:solidFill>
                <a:effectLst/>
                <a:highlight>
                  <a:srgbClr val="FAD355"/>
                </a:highlight>
                <a:uFillTx/>
                <a:latin typeface="Noto Sans SC"/>
                <a:ea typeface="Noto Sans SC"/>
              </a:rPr>
              <a:t>配置泛化</a:t>
            </a:r>
            <a:r>
              <a:rPr lang="zh-CN" sz="2029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。</a:t>
            </a:r>
            <a:endParaRPr lang="en-US" sz="20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9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具体阐述：</a:t>
            </a:r>
            <a:r>
              <a:rPr lang="en-US" sz="189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MCPP</a:t>
            </a:r>
            <a:r>
              <a:rPr lang="zh-CN" sz="189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的解耦设计从根本上分离了环境与硬件，而</a:t>
            </a:r>
            <a:r>
              <a:rPr lang="en-US" sz="189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PaC</a:t>
            </a:r>
            <a:r>
              <a:rPr lang="zh-CN" sz="189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策略则通过预训练注入物理先验，再通过微调适应真实场景，二者相辅相成，兼顾了模型的泛化能力与预测精度。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AutoShape 5"/>
          <p:cNvSpPr/>
          <p:nvPr/>
        </p:nvSpPr>
        <p:spPr>
          <a:xfrm>
            <a:off x="762120" y="4300200"/>
            <a:ext cx="9905040" cy="379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F59E0B"/>
                </a:solidFill>
                <a:effectLst/>
                <a:uFillTx/>
                <a:latin typeface="Noto Sans SC"/>
                <a:ea typeface="Noto Sans SC"/>
              </a:rPr>
              <a:t>设想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AutoShape 6"/>
          <p:cNvSpPr/>
          <p:nvPr/>
        </p:nvSpPr>
        <p:spPr>
          <a:xfrm>
            <a:off x="762120" y="4554000"/>
            <a:ext cx="9905040" cy="1649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5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效仿本文的</a:t>
            </a:r>
            <a:r>
              <a:rPr lang="en-US" sz="205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PaC</a:t>
            </a:r>
            <a:r>
              <a:rPr lang="zh-CN" sz="205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训练范式，探索实现跨</a:t>
            </a:r>
            <a:r>
              <a:rPr lang="zh-CN" sz="2050" b="1" u="none" strike="noStrike">
                <a:solidFill>
                  <a:srgbClr val="333333"/>
                </a:solidFill>
                <a:effectLst/>
                <a:highlight>
                  <a:srgbClr val="FAD355"/>
                </a:highlight>
                <a:uFillTx/>
                <a:latin typeface="Noto Sans SC"/>
                <a:ea typeface="Noto Sans SC"/>
              </a:rPr>
              <a:t>环境泛化</a:t>
            </a:r>
            <a:r>
              <a:rPr lang="zh-CN" sz="2050" b="0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的可能性。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0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具体阐述：可以尝试利用海量、多样化的城市仿真数据预训练一个“基础模型”，学习通用的电波传播规律。当面对一个全新的城市环境时，只需使用少量现场实测数据进行微调，即可快速适配新环境，从而降低对每个新场景都进行大规模数据采集和模型重训的成本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20000" y="3718800"/>
            <a:ext cx="9873720" cy="421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highlight>
                  <a:srgbClr val="3FAF46"/>
                </a:highlight>
                <a:uFillTx/>
                <a:latin typeface="Arial"/>
              </a:rPr>
              <a:t>我认为存在的问题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：环境发生变化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MCPP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需要不断更新，延时会不会太长，建模成本会不会太高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AutoShape 2"/>
          <p:cNvSpPr/>
          <p:nvPr/>
        </p:nvSpPr>
        <p:spPr>
          <a:xfrm>
            <a:off x="762120" y="1015920"/>
            <a:ext cx="1066680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个人总结与后续计划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AutoShape 3"/>
          <p:cNvSpPr/>
          <p:nvPr/>
        </p:nvSpPr>
        <p:spPr>
          <a:xfrm>
            <a:off x="762120" y="2060640"/>
            <a:ext cx="9905040" cy="1141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42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当前理解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完整梳理论文研究痛点、</a:t>
            </a:r>
            <a:r>
              <a:rPr lang="en-US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MCPP </a:t>
            </a:r>
            <a:r>
              <a:rPr lang="zh-CN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解耦核心逻辑、黑白盒混合架构与 </a:t>
            </a:r>
            <a:r>
              <a:rPr lang="en-US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PaC </a:t>
            </a:r>
            <a:r>
              <a:rPr lang="zh-CN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训练流程，能够复述实验验证思路。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AutoShape 4"/>
          <p:cNvSpPr/>
          <p:nvPr/>
        </p:nvSpPr>
        <p:spPr>
          <a:xfrm>
            <a:off x="762120" y="3322800"/>
            <a:ext cx="9905040" cy="126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42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现存不足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缺少信号、几何、优化类进阶数学与无线通信专业基础，复杂信道、矩阵推导公式理解存在障碍。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AutoShape 5"/>
          <p:cNvSpPr/>
          <p:nvPr/>
        </p:nvSpPr>
        <p:spPr>
          <a:xfrm>
            <a:off x="762120" y="4875480"/>
            <a:ext cx="9905040" cy="1141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420" b="1" u="none" strike="noStrik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后续计划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zh-CN" sz="1940" b="0" u="none" strike="noStrike">
                <a:solidFill>
                  <a:srgbClr val="555555"/>
                </a:solidFill>
                <a:effectLst/>
                <a:uFillTx/>
                <a:latin typeface="Noto Sans SC"/>
                <a:ea typeface="Noto Sans SC"/>
              </a:rPr>
              <a:t>短期自学信号与系统、随机过程基础；长期跟进电磁场、凸优化入门内容。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AutoShape 2"/>
          <p:cNvSpPr/>
          <p:nvPr/>
        </p:nvSpPr>
        <p:spPr>
          <a:xfrm>
            <a:off x="0" y="2793960"/>
            <a:ext cx="12191040" cy="761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zh-CN" sz="3600" b="1" u="none" strike="noStrike">
                <a:solidFill>
                  <a:srgbClr val="1F2329"/>
                </a:solidFill>
                <a:effectLst/>
                <a:uFillTx/>
                <a:latin typeface="Noto Sans SC"/>
                <a:ea typeface="Noto Sans SC"/>
              </a:rPr>
              <a:t>感谢聆听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AutoShape 3"/>
          <p:cNvSpPr/>
          <p:nvPr/>
        </p:nvSpPr>
        <p:spPr>
          <a:xfrm>
            <a:off x="0" y="4064040"/>
            <a:ext cx="12191040" cy="126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008B8B"/>
                </a:solidFill>
                <a:effectLst/>
                <a:uFillTx/>
                <a:latin typeface="Noto Sans SC"/>
                <a:ea typeface="Noto Sans SC"/>
              </a:rPr>
              <a:t>Q &amp; A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AutoShape 4"/>
          <p:cNvSpPr/>
          <p:nvPr/>
        </p:nvSpPr>
        <p:spPr>
          <a:xfrm>
            <a:off x="0" y="5587920"/>
            <a:ext cx="12191040" cy="506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5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646A73"/>
                </a:solidFill>
                <a:effectLst/>
                <a:uFillTx/>
                <a:latin typeface="Noto Sans SC"/>
                <a:ea typeface="Noto Sans SC"/>
              </a:rPr>
              <a:t>欢迎老师提问与交流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2026-07-12T00:37:01Z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{"Label":"1","ContentProducer":"001191110102MACQD9K64010000","ProduceID":"7661080296863829231","ReservedCode1":"","ContentPropagator":"","PropagateID":"","ReservedCode2":""}</vt:lpwstr>
  </property>
</Properties>
</file>
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48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电烙铁焊接基础培训。在电子制作、维修和实验中，焊接是一项必不可少的基础技能。本次培训将带大家从零开始，系统学习电烙铁焊接的原理、核心技巧和常见误区，帮助大家快速掌握这项实用技能，轻松完成高质量的焊接工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培训将分为四个部分。首先，我们会讲解焊接的基本原理，让大家明白焊接到底是怎么一回事。接着，我们将详细介绍七个核心操作要点，这是保证焊接质量的关键。然后，我们会针对大家在实际操作中可能遇到的拉丝、烙铁头氧化等问题，提供具体的解决方案和技巧。最后，我们会对所有内容进行总结回顾，帮助大家巩固所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我们来了解一下焊接的基本原理。简单来说，焊接就是利用电烙铁的热量，把焊锡熔化，然后让熔化的焊锡流到我们想要连接的金属部件上，冷却后形成一个牢固的连接。这个过程需要四个关键要素：提供热量的电烙铁，作为连接材料的焊锡，帮助焊接更顺畅的助焊剂，以及我们要连接的工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个完美的焊点是通过四个连续的步骤实现的。第一步是热传导，我们用烙铁头给要焊接的地方加热。第二步是湿润，当温度足够时，焊锡会熔化并像水一样铺展开。第三步是扩散，这是一个微观过程，焊锡和金属工件的原子会相互渗透，形成真正的结合。最后一步是凝固，移开烙铁后，一定要保持焊点不动，让它自然冷却，这样才能形成一个坚固的焊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进入第二部分，学习焊接的七大核心操作要点。首先是温度控制。温度太低，焊锡化不了，焊不牢；温度太高，不仅容易烧坏元器件和电路板，还会让你的烙铁头很快报废。一般来说，300到350摄氏度是比较合适的温度范围，大家可以根据实际情况微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要点是烙铁头挂锡。简单说，就是让你的烙铁头尖端时刻都包着一层锡。这样做有三大好处：第一，传热更快；第二，保护烙铁头不被氧化；第三，更容易把焊锡带到焊点上。记住，养成好习惯，随时给烙铁头挂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和第四个要点是紧密相关的：防止氧化和充分加热。金属表面一旦氧化，就很难上锡，所以我们要通过控制温度、使用助焊剂等方式来防止氧化。同时，一定要有耐心，确保焊点被充分加热。如果加热时间不够，焊锡就像水泼在油纸上一样，根本粘不住，形成虚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三个要点。第五，助焊剂是焊接的好帮手，它能清洁金属表面，让焊锡更好地流动。第六，我们要知道什么样的焊点才是合格的：看起来光滑、光亮，形状像个小火山，把引脚和焊盘都包住了。第七，也是非常重要的一点，焊完后一定要稳住，让焊点自己冷却，千万不要手抖，否则前面的功夫就白费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第三部分，解答一些关键问题。有同学问，是不是因为焊锡丝里有助焊剂，所以要快一点焊，不然会拉丝？这个说法完全正确！焊锡丝里的松香助焊剂很怕热，加热时间一长就挥发没了。没有了助焊剂，焊锡就变得很“粘稠”，移开烙铁时就容易拉出丝来。所以，我们提倡“快速焊接”，看准时机，一气呵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另一个常见问题是烙铁头氧化怎么办？有同学说用锡去覆盖，这个思路是对的。对于轻微的氧化，我们可以在烙铁头热的时候，蘸上锡，然后在湿海绵上一擦，大部分氧化物就被带走了。但如果氧化很严重，形成了一层顽固的黑膜，就需要先用砂纸打磨掉，然后再重新上锡。最好的方法还是预防，不要让烙铁空烧太久，温度别太高，随时挂锡，这样你的烙铁头才能用得长久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总结一下整个焊接流程。准备工作做好后，焊接过程主要分五步：接触、送锡、移锡、移烙铁、冷却。记住这个顺序和节奏，多加练习，就能熟能生巧。焊完后别忘了检查一下焊点，然后把你的烙铁头清洁干净，上好锡再收起来，为下一次使用做好准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列举了几个最常见的焊接问题、原因和解决方案。比如焊点不牢固的“虚焊”，通常是加热不够或冷却时手抖了。烙铁头不上锡，多半是氧化了。大家可以对照这个表格，在遇到问题时找到原因并加以解决。实践是最好的老师，多练习才能掌握精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非常感谢大家的参与！希望这次培训能帮助大家掌握电烙铁焊接的基本技能。理论结合实践，多动手练习，相信大家很快就能成为焊接高手。谢谢大家！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3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svg"/><Relationship Id="rId5" Type="http://schemas.openxmlformats.org/officeDocument/2006/relationships/image" Target="../media/image7.svg"/><Relationship Id="rId4" Type="http://schemas.openxmlformats.org/officeDocument/2006/relationships/image" Target="../media/image26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3810000"/>
            <a:ext cx="5080000" cy="5080000"/>
          </a:xfrm>
          <a:prstGeom prst="ellipse">
            <a:avLst/>
          </a:prstGeom>
          <a:solidFill>
            <a:srgbClr val="FF6A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1176000" y="0"/>
            <a:ext cx="1524000" cy="6858000"/>
          </a:xfrm>
          <a:prstGeom prst="roundRect">
            <a:avLst>
              <a:gd name="adj" fmla="val 0"/>
            </a:avLst>
          </a:prstGeom>
          <a:solidFill>
            <a:srgbClr val="333333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2286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电烙铁焊接基础培训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556000"/>
            <a:ext cx="1524000" cy="762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7" name="Connector 7"/>
          <p:cNvCxnSpPr/>
          <p:nvPr/>
        </p:nvCxnSpPr>
        <p:spPr>
          <a:xfrm rot="-4297">
            <a:off x="1016004" y="545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5778500"/>
            <a:ext cx="279400" cy="279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60500" y="57404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主讲人</a:t>
            </a:r>
            <a:r>
              <a:rPr lang="en-US" sz="16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sz="1100" dirty="0"/>
          </a:p>
        </p:txBody>
      </p:sp>
      <p:cxnSp>
        <p:nvCxnSpPr>
          <p:cNvPr id="10" name="Connector 10"/>
          <p:cNvCxnSpPr/>
          <p:nvPr/>
        </p:nvCxnSpPr>
        <p:spPr>
          <a:xfrm rot="5262563">
            <a:off x="6445250" y="5931027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0" y="5778500"/>
            <a:ext cx="279400" cy="279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302500" y="5740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培训日期：2026年6月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培训内容目录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FF6A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76200" cy="19685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2200" y="2032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905000" y="19685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01. 焊接基本原理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444">
            <a:off x="1092209" y="27876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92200" y="2984500"/>
            <a:ext cx="4622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深入剖析焊接过程中的物理与化学变化，理解金属原子间的结合机制，建立对焊接本质的科学认知</a:t>
            </a:r>
            <a:r>
              <a:rPr lang="en-US" sz="14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6350000" y="1778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350000" y="1778000"/>
            <a:ext cx="76200" cy="19685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80200" y="2032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493000" y="19685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02. 七大核心操作要点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444">
            <a:off x="6680209" y="27876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680200" y="2984500"/>
            <a:ext cx="4622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系统讲解从准备工作到完成焊接的全流程关键步骤，掌握规范操作手法，是保障焊接质量的核心基础。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191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62000" y="4191000"/>
            <a:ext cx="76200" cy="19685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2200" y="4445000"/>
            <a:ext cx="508000" cy="508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905000" y="43815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03. 关键技巧与常见误区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9444">
            <a:off x="1092209" y="52006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1092200" y="5334000"/>
            <a:ext cx="46228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针对焊接拉丝、烙铁头氧化、焊点不饱满等高频问题，提供针对性解决方案，规避操作中的典型错误。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50000" y="4191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350000" y="4191000"/>
            <a:ext cx="76200" cy="19685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80200" y="4445000"/>
            <a:ext cx="508000" cy="508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493000" y="43815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04. 总结回顾与技能提升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9444">
            <a:off x="6680209" y="52006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680200" y="5334000"/>
            <a:ext cx="46228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梳理全章节重点知识，结合实操案例进行复盘，强化知识记忆，切实提升焊接实操与问题处理能力。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焊接基本原理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143000"/>
            <a:ext cx="762000" cy="508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0668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76200" cy="17780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79500" y="1968500"/>
            <a:ext cx="1003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01. 焊接的本质：从物理附着到冶金结合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4351">
            <a:off x="1079504" y="2533650"/>
            <a:ext cx="1003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79500" y="2667000"/>
            <a:ext cx="1003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焊接并非简单的物理粘连，而是利用熔化的锡基合金焊料填充金属接触面，在界面发生微观原子扩散，最终形成原子间结合的牢固冶金连接，这是保证焊点机械强度与电气性能的核心关键。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4191000"/>
            <a:ext cx="2476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762000" y="4191000"/>
            <a:ext cx="2476500" cy="508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4445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460500" y="4445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核心要素一：热源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20834">
            <a:off x="952519" y="5073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952500" y="5207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由电烙铁提供足够热量，使焊料熔化并加热金属工件，为原子扩散创造必要的温度条件。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492500" y="4191000"/>
            <a:ext cx="2476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3492500" y="4191000"/>
            <a:ext cx="2476500" cy="508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3000" y="4445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4191000" y="4445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核心要素二：焊料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20834">
            <a:off x="3683019" y="5073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3683000" y="5207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通常为锡铅合金或环保无铅焊锡，是填充缝隙、形成连接的关键材料，决定焊点的导电性与强度。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23000" y="4191000"/>
            <a:ext cx="2476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223000" y="4191000"/>
            <a:ext cx="2476500" cy="508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500" y="44450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921500" y="4445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核心要素三：助焊剂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20834">
            <a:off x="6413519" y="5073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6413500" y="5207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有效去除金属表面氧化膜，防止再次氧化，并增强焊锡的流动性，确保焊点成型饱满、光亮。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953500" y="4191000"/>
            <a:ext cx="2476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8953500" y="4191000"/>
            <a:ext cx="2476500" cy="508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0" y="4445000"/>
            <a:ext cx="406400" cy="4064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9652000" y="4445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核心要素四：工件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 rot="-20834">
            <a:off x="9144019" y="5073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2" name="AutoShape 32"/>
          <p:cNvSpPr/>
          <p:nvPr/>
        </p:nvSpPr>
        <p:spPr>
          <a:xfrm>
            <a:off x="9144000" y="5207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待连接的金属部件，如电子元器件的引脚、PCB板的焊盘等，是焊接工艺的作用对象与最终载体。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焊接四步法：实现完美焊点的关键流程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FF6A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2476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2476500" cy="762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2222500"/>
            <a:ext cx="209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30480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热传导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20834">
            <a:off x="952519" y="3676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3937000"/>
            <a:ext cx="2095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操作：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用带锡的烙铁头同时接触焊盘和元器件引脚。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目的：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高效传递热量至焊接部位，为焊锡熔化做准备。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3492500" y="1905000"/>
            <a:ext cx="2476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3492500" y="1905000"/>
            <a:ext cx="2476500" cy="762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3683000" y="2222500"/>
            <a:ext cx="209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683000" y="30480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湿润（浸润）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20834">
            <a:off x="3683019" y="3676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3683000" y="3937000"/>
            <a:ext cx="2095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操作：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工件充分加热后送入焊锡丝，使其熔化并铺展开。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目的：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让熔融焊锡在金属表面形成均匀、光滑的覆盖层。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223000" y="1905000"/>
            <a:ext cx="2476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223000" y="1905000"/>
            <a:ext cx="2476500" cy="762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413500" y="2222500"/>
            <a:ext cx="209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13500" y="30480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扩散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20834">
            <a:off x="6413519" y="3676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6413500" y="3937000"/>
            <a:ext cx="2095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操作：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继续保持加热1-2秒，直至焊锡停止流动。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目的：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实现焊锡与母材间的原子级结合，形成牢固焊点。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8953500" y="1905000"/>
            <a:ext cx="2476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8953500" y="1905000"/>
            <a:ext cx="2476500" cy="762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9144000" y="2222500"/>
            <a:ext cx="209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144000" y="30480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凝固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20834">
            <a:off x="9144019" y="3676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9144000" y="3937000"/>
            <a:ext cx="2095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操作：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移开电烙铁，全程保持工件静止不动。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目的：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让焊锡在无扰动下自然冷却，凝固成稳固成型的焊点。</a:t>
            </a:r>
          </a:p>
        </p:txBody>
      </p:sp>
      <p:sp>
        <p:nvSpPr>
          <p:cNvPr id="28" name="AutoShape 28"/>
          <p:cNvSpPr/>
          <p:nvPr/>
        </p:nvSpPr>
        <p:spPr>
          <a:xfrm>
            <a:off x="762000" y="59055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FF6A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6045200"/>
            <a:ext cx="304800" cy="3048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1397000" y="6007100"/>
            <a:ext cx="990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核心要点：每一步的时机和稳定性决定焊点质量，任何一步的操作失误都会导致虚焊、假焊等缺陷。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第二部分：七大核心操作要点（1/4）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3378200" cy="50800"/>
          </a:xfrm>
          <a:prstGeom prst="roundRect">
            <a:avLst>
              <a:gd name="adj" fmla="val 0"/>
            </a:avLst>
          </a:prstGeom>
          <a:solidFill>
            <a:srgbClr val="FF6A0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22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184400"/>
            <a:ext cx="23622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温度过低的隐患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211">
            <a:off x="1016014" y="2851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175000"/>
            <a:ext cx="2870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焊锡无法完全熔化，导致浸润不良，极易形成</a:t>
            </a:r>
            <a:r>
              <a:rPr lang="en-US" sz="14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虚焊、假焊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。这种焊点连接不牢固，导电性能差，是电路故障的主要诱因之一。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06900" y="1905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406900" y="1905000"/>
            <a:ext cx="3378200" cy="50800"/>
          </a:xfrm>
          <a:prstGeom prst="roundRect">
            <a:avLst>
              <a:gd name="adj" fmla="val 0"/>
            </a:avLst>
          </a:prstGeom>
          <a:solidFill>
            <a:srgbClr val="FF6A0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900" y="2222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168900" y="2184400"/>
            <a:ext cx="23622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温度过高的风险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5211">
            <a:off x="4660914" y="2851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60900" y="3175000"/>
            <a:ext cx="2870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加速烙铁头氧化致“不吃锡”；易损坏热敏元器件与PCB焊盘；助焊剂快速挥发失效，使焊点产生拉丝、气孔，大幅降低焊接质量与寿命。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51800" y="1905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051800" y="1905000"/>
            <a:ext cx="3378200" cy="50800"/>
          </a:xfrm>
          <a:prstGeom prst="roundRect">
            <a:avLst>
              <a:gd name="adj" fmla="val 0"/>
            </a:avLst>
          </a:prstGeom>
          <a:solidFill>
            <a:srgbClr val="FF6A0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05800" y="22225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813800" y="2184400"/>
            <a:ext cx="23622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推荐标准温度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5211">
            <a:off x="8305814" y="2851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305800" y="3175000"/>
            <a:ext cx="2870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常规电子焊接建议设置在</a:t>
            </a:r>
            <a:r>
              <a:rPr lang="en-US" sz="18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300℃ - 350℃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。实际操作需结合焊点大小、元器件类型及散热条件灵活微调，确保焊锡熔化充分且不损伤母材。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7785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FF6A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9690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524000" y="59055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核心原则：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在能充分熔化焊锡的前提下，尽量使用较低的温度进行焊接，以延长烙铁寿命并保护元器件安全。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七大核心操作要点（2/4）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508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要点二：烙铁头挂锡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540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FF6A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2540000"/>
            <a:ext cx="76200" cy="10160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2667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什么是挂锡？</a:t>
            </a:r>
            <a:r>
              <a:rPr lang="en-US" sz="15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在烙铁头工作时，使其尖端始终保持一层薄薄的熔融焊锡，这是焊接操作中最基础也最关键的习惯。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937000"/>
            <a:ext cx="33782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4127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4127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01. 提高热传导效率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4566">
            <a:off x="952513" y="4692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952500" y="4826000"/>
            <a:ext cx="2997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液态锡的导热速度远快于裸露的金属烙铁头，能让热量瞬间传递至焊点，提升焊接速度。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406900" y="3937000"/>
            <a:ext cx="33782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97400" y="4127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168900" y="4127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02. 防止烙铁头氧化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4566">
            <a:off x="4597413" y="4692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597400" y="4826000"/>
            <a:ext cx="2997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焊锡层可有效隔绝空气与烙铁头金属的接触，避免其高温氧化“烧死”，延长烙铁头使用寿命。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051800" y="3937000"/>
            <a:ext cx="33782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42300" y="41275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813800" y="4127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03. 促进焊锡流动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4566">
            <a:off x="8242313" y="4692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242300" y="4826000"/>
            <a:ext cx="2997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带有焊锡的烙铁头能更好地浸润焊点，让热量与焊锡同步传递，确保焊点饱满、光亮。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5842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333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60198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524000" y="5943600"/>
            <a:ext cx="965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 dirty="0" err="1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操作要领：</a:t>
            </a:r>
            <a:r>
              <a:rPr lang="en-US" sz="1400" b="0" i="0" u="none" strike="noStrike" dirty="0" err="1">
                <a:solidFill>
                  <a:srgbClr val="EBEBEB"/>
                </a:solidFill>
                <a:latin typeface="Noto Sans SC"/>
                <a:ea typeface="Noto Sans SC"/>
                <a:cs typeface="Noto Sans SC"/>
                <a:sym typeface="Noto Sans SC"/>
              </a:rPr>
              <a:t>每次使用前、焊接间隙及使用结束后，都要及时用焊锡丝在烙铁头上涂抹一层薄锡，形成保护</a:t>
            </a:r>
            <a:r>
              <a:rPr lang="zh-CN" altLang="en-US" sz="14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r>
              <a:rPr lang="en-US" sz="1400" b="0" i="0" u="none" strike="noStrike" dirty="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zh-CN" altLang="en-US" sz="1400" b="0" i="0" u="none" strike="noStrike" dirty="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非常重要</a:t>
            </a:r>
            <a:r>
              <a:rPr lang="zh-CN" altLang="en-US" dirty="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lang="en-US" sz="11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七大核心操作要点（3/4）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FF6A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705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70500" cy="762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159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87500" y="2159000"/>
            <a:ext cx="406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要点三：防止氧化，保障浸润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167">
            <a:off x="1016008" y="2914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175000"/>
            <a:ext cx="4762500" cy="1079500"/>
          </a:xfrm>
          <a:prstGeom prst="roundRect">
            <a:avLst>
              <a:gd name="adj" fmla="val 0"/>
            </a:avLst>
          </a:prstGeom>
          <a:solidFill>
            <a:srgbClr val="FF6A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143000" y="3302000"/>
            <a:ext cx="450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核心危害：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金属表面形成的氧化膜会像一层屏障，直接阻碍热量的传导效率，同时严重影响焊锡的润湿和附着，导致上锡困难。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572000"/>
            <a:ext cx="4762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关键应对措施：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严格控制烙铁温度避免过热；充分利用松香芯焊锡丝的助焊剂清除氧化层；作业间隙保持烙铁头清洁并及时挂锡，形成保护层。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286500" y="1778000"/>
            <a:ext cx="52705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286500" y="1778000"/>
            <a:ext cx="5270500" cy="762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0500" y="2159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112000" y="2159000"/>
            <a:ext cx="406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要点四：充分加热，切忌急躁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167">
            <a:off x="6540508" y="2914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540500" y="3175000"/>
            <a:ext cx="4762500" cy="1206500"/>
          </a:xfrm>
          <a:prstGeom prst="roundRect">
            <a:avLst>
              <a:gd name="adj" fmla="val 0"/>
            </a:avLst>
          </a:prstGeom>
          <a:solidFill>
            <a:srgbClr val="FF6A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667500" y="3302000"/>
            <a:ext cx="4508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常见误区与后果：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新手常因担心烫坏元件而过快移开烙铁。若焊盘和引脚温度不足，焊锡无法完全浸润，会形成质地疏松、像“豆腐渣”一样的虚焊点，极易脱落。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540500" y="4572000"/>
            <a:ext cx="4762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判断温度的实操技巧：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观察焊锡的流动状态，当焊锡能在焊点上自然、平滑地铺展开，形成光亮的圆弧状，而非凝成水珠状时，才说明加热到位，此时移开烙铁最佳。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七大核心操作要点（4/4）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FF6A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429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3429000" cy="762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22225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05 / 助焊剂的作用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323">
            <a:off x="952513" y="2914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3175000"/>
            <a:ext cx="3048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核心功能：</a:t>
            </a: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去除金属表面氧化膜，降低焊锡表面张力，使其更容易流动和湿润，是实现良好焊接的关键辅助。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常见来源：</a:t>
            </a: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大多数焊锡丝内部都已内置松香助焊剂，焊接时受热会自然渗出，无需额外添加。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4381500" y="1905000"/>
            <a:ext cx="3429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381500" y="1905000"/>
            <a:ext cx="3429000" cy="762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572000" y="22225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06 / 合格焊点标准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4323">
            <a:off x="4572013" y="2914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572000" y="3175000"/>
            <a:ext cx="3048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外观与形状：</a:t>
            </a: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表面光滑洁净、有金属光泽，整体呈“火山”状凸起；焊锡呈半月形，完整包裹引脚与焊盘，边缘过渡平滑自然。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内在质量：</a:t>
            </a: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电气导通性能优良，同时具备足够的机械强度，可承受轻微震动与拉扯，无开裂隐患。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001000" y="1905000"/>
            <a:ext cx="3429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001000" y="1905000"/>
            <a:ext cx="3429000" cy="762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191500" y="22225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07 / 冷却保持稳定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323">
            <a:off x="8191513" y="2914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191500" y="3175000"/>
            <a:ext cx="3048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操作关键：</a:t>
            </a: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移开烙铁后的3-5秒内，必须保持元器件和焊点静止，绝对不能晃动、触碰或移动线路板。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6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警示后果：</a:t>
            </a: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冷却过程中晃动极易导致焊点内部产生细微裂纹或空腔，形成隐蔽的“虚焊”，是电路故障的重要诱因。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762000" y="5842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333333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6007100"/>
            <a:ext cx="431800" cy="431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587500" y="5943600"/>
            <a:ext cx="965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焊接操作的每一个环节环环相扣：从助焊剂的清洁作用，到焊点的外观形态，再到最后的冷却定型，任何一步疏忽都可能导致焊接失效，务必严谨对待。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第三部分：关键技巧与误区（1/2）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333333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5875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1498600"/>
            <a:ext cx="9906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焊锡丝内含助焊剂，熔化后迅速完成焊接，避免反复加热导致拉丝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762000" y="2540000"/>
            <a:ext cx="76200" cy="7620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2540000"/>
            <a:ext cx="1028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✅ </a:t>
            </a:r>
            <a:r>
              <a:rPr lang="en-US" sz="2000" b="1" i="0" u="none" strike="noStrike" dirty="0" err="1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完全正确！</a:t>
            </a:r>
            <a:r>
              <a:rPr lang="en-US" sz="16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助焊剂的挥发特性决定了焊接必须讲究时机与速度，这是避免拉丝的核心逻辑</a:t>
            </a:r>
            <a:r>
              <a:rPr 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762000" y="3810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6A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40005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3911600"/>
            <a:ext cx="438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01. 助焊剂快速消耗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松香芯焊锡丝中的助焊剂在高温烙铁接触下会迅速挥发，这是不可逆的过程，无法循环利用。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286500" y="3810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6A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4000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048500" y="3911600"/>
            <a:ext cx="438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02. 反复加热致耗尽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长时间或反复加热同一焊点，会导致助焊剂提前耗尽，使焊锡失去核心的润湿、抗氧化保护作用。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5080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6A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52705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24000" y="5181600"/>
            <a:ext cx="438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03. 流动性与张力失衡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失去助焊剂的焊锡流动性急剧下降，表面张力显著增大，无法在焊点处平滑铺展，极易收缩成团。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6286500" y="5080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6A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52705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048500" y="5181600"/>
            <a:ext cx="438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04. 遗留锡尖与拉丝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此时移开烙铁，焊锡会因表面张力被拉起，最终形成影响电路外观、甚至造成短路隐患的锡尖或拉丝。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关键技巧与误区（2/2）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FF6A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5875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778000" y="1524000"/>
            <a:ext cx="939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问：烙铁头出现黑色氧化层，直接用锡覆盖可以去除吗</a:t>
            </a:r>
            <a:r>
              <a:rPr lang="en-US" sz="16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  <a:endParaRPr lang="en-US" sz="1100" dirty="0"/>
          </a:p>
          <a:p>
            <a:pPr marL="0" indent="0" algn="l">
              <a:lnSpc>
                <a:spcPct val="108333"/>
              </a:lnSpc>
            </a:pPr>
            <a:r>
              <a:rPr lang="en-US" sz="1600" b="1" i="0" u="none" strike="noStrike" dirty="0" err="1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答：思路正确，但操作有讲究！需根据氧化程度选择更科学的处理方式</a:t>
            </a:r>
            <a:r>
              <a:rPr lang="en-US" sz="1600" b="1" i="0" u="none" strike="noStrike" dirty="0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762000" y="2921000"/>
            <a:ext cx="3429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292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1750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60500" y="3149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轻度氧化（表面发黑）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4946">
            <a:off x="1016014" y="3740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952500" y="3937000"/>
            <a:ext cx="30480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保持烙铁在工作温度，蘸上一层薄锡，利用锡的流动性包裹氧化物。在湿润的高温海绵或钢丝棉上快速擦拭，重复“挂锡-擦拭”动作，直至烙铁头恢复光亮金属色。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81500" y="2921000"/>
            <a:ext cx="3429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381500" y="292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31750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080000" y="3149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严重氧化（顽固黑层）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4946">
            <a:off x="4635514" y="3740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572000" y="3937000"/>
            <a:ext cx="30480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若常规擦拭无效，需先断电冷却。用细砂纸或专用锉刀轻轻打磨去除坚硬氧化层，注意控制力度避免损伤镀层。处理后立即通电加热，并迅速上锡形成保护层，防止再次氧化。</a:t>
            </a:r>
            <a:r>
              <a:rPr lang="zh-CN" alt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（一般不会用到）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8001000" y="2921000"/>
            <a:ext cx="3429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001000" y="292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31750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699500" y="3149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日常防护与保养</a:t>
            </a:r>
            <a:r>
              <a:rPr lang="zh-CN" altLang="en-US" sz="18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！</a:t>
            </a:r>
            <a:endParaRPr lang="en-US" sz="1100" dirty="0"/>
          </a:p>
        </p:txBody>
      </p:sp>
      <p:cxnSp>
        <p:nvCxnSpPr>
          <p:cNvPr id="22" name="Connector 22"/>
          <p:cNvCxnSpPr/>
          <p:nvPr/>
        </p:nvCxnSpPr>
        <p:spPr>
          <a:xfrm rot="-14946">
            <a:off x="8255014" y="3740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8191500" y="3937000"/>
            <a:ext cx="30480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预防胜于补救：避免长时间空烧烙铁，合理设置焊接温度（不宜过高）；每次使用完毕后，务必在烙铁头挂上一层薄锡，形成保护膜隔绝空气，从源头减少氧化发生。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第四部分：总结与回顾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FF6A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302000" cy="508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95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0574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01. 准备工作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626">
            <a:off x="1016014" y="2724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0480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操作前需确认烙铁温度达到标准，清洁烙铁头并均匀挂锡，防止氧化。同时将PCB板固定在焊接台，元器件引脚整理平直，确保定位准确，为焊接做好充分准备。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1778000"/>
            <a:ext cx="3683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381500" y="1778000"/>
            <a:ext cx="3683000" cy="508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500" y="2095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143500" y="2057400"/>
            <a:ext cx="266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02. 核心焊接五步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3750">
            <a:off x="4635513" y="27241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35500" y="2984500"/>
            <a:ext cx="1079500" cy="952500"/>
          </a:xfrm>
          <a:prstGeom prst="roundRect">
            <a:avLst>
              <a:gd name="adj" fmla="val 0"/>
            </a:avLst>
          </a:prstGeom>
          <a:solidFill>
            <a:srgbClr val="FF6A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4699000" y="3048000"/>
            <a:ext cx="95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01 接触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烙铁头同时接触焊盘与元器件引脚，确保受热均匀。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5778500" y="2984500"/>
            <a:ext cx="1079500" cy="952500"/>
          </a:xfrm>
          <a:prstGeom prst="roundRect">
            <a:avLst>
              <a:gd name="adj" fmla="val 0"/>
            </a:avLst>
          </a:prstGeom>
          <a:solidFill>
            <a:srgbClr val="FF6A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5842000" y="3048000"/>
            <a:ext cx="95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02 送锡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加热1-2秒后送入焊锡丝，控制送锡量，避免短路。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794500" y="2984500"/>
            <a:ext cx="1079500" cy="952500"/>
          </a:xfrm>
          <a:prstGeom prst="roundRect">
            <a:avLst>
              <a:gd name="adj" fmla="val 0"/>
            </a:avLst>
          </a:prstGeom>
          <a:solidFill>
            <a:srgbClr val="FF6A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858000" y="3048000"/>
            <a:ext cx="95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03 移锡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待焊锡充分浸润焊点后，平稳移开焊锡丝，不拉扯。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4635500" y="4191000"/>
            <a:ext cx="1714500" cy="1016000"/>
          </a:xfrm>
          <a:prstGeom prst="roundRect">
            <a:avLst>
              <a:gd name="adj" fmla="val 0"/>
            </a:avLst>
          </a:prstGeom>
          <a:solidFill>
            <a:srgbClr val="FF6A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4699000" y="4254500"/>
            <a:ext cx="158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04 移烙铁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再停留1秒，以45度角方向移开烙铁，保证焊点成型饱满。</a:t>
            </a:r>
          </a:p>
        </p:txBody>
      </p:sp>
      <p:sp>
        <p:nvSpPr>
          <p:cNvPr id="23" name="AutoShape 23"/>
          <p:cNvSpPr/>
          <p:nvPr/>
        </p:nvSpPr>
        <p:spPr>
          <a:xfrm>
            <a:off x="6477000" y="4191000"/>
            <a:ext cx="1714500" cy="1016000"/>
          </a:xfrm>
          <a:prstGeom prst="roundRect">
            <a:avLst>
              <a:gd name="adj" fmla="val 0"/>
            </a:avLst>
          </a:prstGeom>
          <a:solidFill>
            <a:srgbClr val="FF6A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540500" y="4254500"/>
            <a:ext cx="158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05 冷却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保持焊点静止，自然冷却定型，切勿用嘴吹或手动触碰。</a:t>
            </a:r>
          </a:p>
        </p:txBody>
      </p:sp>
      <p:sp>
        <p:nvSpPr>
          <p:cNvPr id="25" name="AutoShape 25"/>
          <p:cNvSpPr/>
          <p:nvPr/>
        </p:nvSpPr>
        <p:spPr>
          <a:xfrm>
            <a:off x="8382000" y="1778000"/>
            <a:ext cx="3302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8382000" y="1778000"/>
            <a:ext cx="3302000" cy="508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36000" y="2095500"/>
            <a:ext cx="406400" cy="4064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9144000" y="20574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03. 收尾工作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-15626">
            <a:off x="8636014" y="2724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8636000" y="30480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焊接完成后，仔细检查焊点是否存在虚焊、假焊、短路等问题。使用湿润的海绵清洁烙铁头，再次挂锡后切断电源，做好工具保养，确保设备处于良好待用状态。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62000" y="5715000"/>
            <a:ext cx="10922000" cy="762000"/>
          </a:xfrm>
          <a:prstGeom prst="roundRect">
            <a:avLst>
              <a:gd name="adj" fmla="val 0"/>
            </a:avLst>
          </a:prstGeom>
          <a:solidFill>
            <a:srgbClr val="333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892800"/>
            <a:ext cx="355600" cy="3556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1651000" y="5842000"/>
            <a:ext cx="977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关键提示：焊接的核心在于控制温度与时间，遵循“接触-送锡-移锡-移烙铁-冷却”的标准节奏，勤加练习是掌握高质量焊接技巧的关键。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常见问题与解决方案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70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70500" cy="508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778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7399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01. 虚焊/假焊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8929">
            <a:off x="952508" y="22796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2413000"/>
            <a:ext cx="2349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可能原因：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加热时间不足；金属表面存在氧化层；焊点在冷却过程中发生晃动。</a:t>
            </a:r>
          </a:p>
        </p:txBody>
      </p:sp>
      <p:cxnSp>
        <p:nvCxnSpPr>
          <p:cNvPr id="9" name="Connector 9"/>
          <p:cNvCxnSpPr/>
          <p:nvPr/>
        </p:nvCxnSpPr>
        <p:spPr>
          <a:xfrm rot="5361804">
            <a:off x="2794000" y="3041685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3492500" y="2413000"/>
            <a:ext cx="2349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解决方案：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适当延长加热时间；使用助焊剂彻底清洁表面；冷却时保持焊点静止。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159500" y="1524000"/>
            <a:ext cx="5270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159500" y="1524000"/>
            <a:ext cx="5270500" cy="508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000" y="1778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794500" y="17399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02. 焊点拉丝/有锡尖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8929">
            <a:off x="6350008" y="22796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350000" y="2413000"/>
            <a:ext cx="2349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可能原因：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助焊剂提前耗尽；烙铁移开的角度不正确；焊接温度设置过高。</a:t>
            </a:r>
          </a:p>
        </p:txBody>
      </p:sp>
      <p:cxnSp>
        <p:nvCxnSpPr>
          <p:cNvPr id="17" name="Connector 17"/>
          <p:cNvCxnSpPr/>
          <p:nvPr/>
        </p:nvCxnSpPr>
        <p:spPr>
          <a:xfrm rot="5361804">
            <a:off x="8191500" y="3041685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890000" y="2413000"/>
            <a:ext cx="2349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解决方案：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加快焊接操作速度；以45度角平稳移开烙铁；适当调低烙铁温度。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762000" y="4064000"/>
            <a:ext cx="5270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762000" y="4064000"/>
            <a:ext cx="5270500" cy="508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43180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397000" y="42799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03. 烙铁头不上锡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8929">
            <a:off x="952508" y="48196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952500" y="4953000"/>
            <a:ext cx="2349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可能原因：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烙铁头表面严重氧化；温度过高或过低超出适配范围；闲置时未及时挂锡保护。</a:t>
            </a:r>
          </a:p>
        </p:txBody>
      </p:sp>
      <p:cxnSp>
        <p:nvCxnSpPr>
          <p:cNvPr id="25" name="Connector 25"/>
          <p:cNvCxnSpPr/>
          <p:nvPr/>
        </p:nvCxnSpPr>
        <p:spPr>
          <a:xfrm rot="5361804">
            <a:off x="2794000" y="5581685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3492500" y="4953000"/>
            <a:ext cx="2349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解决方案：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清洁或打磨氧化层后重新上锡；调整至合适温度区间；养成随时挂锡的习惯。</a:t>
            </a:r>
          </a:p>
        </p:txBody>
      </p:sp>
      <p:sp>
        <p:nvSpPr>
          <p:cNvPr id="27" name="AutoShape 27"/>
          <p:cNvSpPr/>
          <p:nvPr/>
        </p:nvSpPr>
        <p:spPr>
          <a:xfrm>
            <a:off x="6159500" y="4064000"/>
            <a:ext cx="5270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6159500" y="4064000"/>
            <a:ext cx="5270500" cy="508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0000" y="4318000"/>
            <a:ext cx="304800" cy="3048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6794500" y="42799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04. 焊盘脱落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 rot="-8929">
            <a:off x="6350008" y="48196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AutoShape 32"/>
          <p:cNvSpPr/>
          <p:nvPr/>
        </p:nvSpPr>
        <p:spPr>
          <a:xfrm>
            <a:off x="6350000" y="4953000"/>
            <a:ext cx="2349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可能原因：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焊接温度过高，持续加热时间过长；对同一焊点进行反复、多次的加热操作。</a:t>
            </a:r>
          </a:p>
        </p:txBody>
      </p:sp>
      <p:cxnSp>
        <p:nvCxnSpPr>
          <p:cNvPr id="33" name="Connector 33"/>
          <p:cNvCxnSpPr/>
          <p:nvPr/>
        </p:nvCxnSpPr>
        <p:spPr>
          <a:xfrm rot="5361804">
            <a:off x="8191500" y="5581685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4" name="AutoShape 34"/>
          <p:cNvSpPr/>
          <p:nvPr/>
        </p:nvSpPr>
        <p:spPr>
          <a:xfrm>
            <a:off x="8890000" y="4953000"/>
            <a:ext cx="2349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解决方案：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降低烙铁温度并加快焊接速度；规划焊接顺序，避免对同一焊点的重复加热。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144000" y="4572000"/>
            <a:ext cx="3810000" cy="3810000"/>
          </a:xfrm>
          <a:prstGeom prst="ellipse">
            <a:avLst/>
          </a:prstGeom>
          <a:solidFill>
            <a:srgbClr val="FF6A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 rot="2700000">
            <a:off x="-762000" y="-762000"/>
            <a:ext cx="3048000" cy="3048000"/>
          </a:xfrm>
          <a:prstGeom prst="roundRect">
            <a:avLst>
              <a:gd name="adj" fmla="val 0"/>
            </a:avLst>
          </a:prstGeom>
          <a:solidFill>
            <a:srgbClr val="333333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2540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感谢观看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588000" y="3937000"/>
            <a:ext cx="1016000" cy="508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0" y="5842000"/>
            <a:ext cx="12192000" cy="1016000"/>
          </a:xfrm>
          <a:prstGeom prst="roundRect">
            <a:avLst>
              <a:gd name="adj" fmla="val 0"/>
            </a:avLst>
          </a:prstGeom>
          <a:solidFill>
            <a:srgbClr val="333333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32000" y="6032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2540000" y="5994400"/>
            <a:ext cx="254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理论夯实基础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掌握核心原理，理解焊接工艺逻辑</a:t>
            </a:r>
          </a:p>
        </p:txBody>
      </p:sp>
      <p:cxnSp>
        <p:nvCxnSpPr>
          <p:cNvPr id="10" name="Connector 10"/>
          <p:cNvCxnSpPr/>
          <p:nvPr/>
        </p:nvCxnSpPr>
        <p:spPr>
          <a:xfrm rot="5314074">
            <a:off x="5461000" y="62802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000" y="6032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858000" y="59944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规范保障安全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严守操作流程，落实设备安全防护标准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1183</Words>
  <Application>Microsoft Office PowerPoint</Application>
  <PresentationFormat>宽屏</PresentationFormat>
  <Paragraphs>181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zq</dc:creator>
  <cp:lastModifiedBy>qi zhuang</cp:lastModifiedBy>
  <cp:revision>1</cp:revision>
  <dcterms:modified xsi:type="dcterms:W3CDTF">2026-06-27T13:11:19Z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{"Label":"1","ContentProducer":"001191110102MACQD9K64010000","ProduceID":"7656059362574420971","ReservedCode1":"","ContentPropagator":"","PropagateID":"","ReservedCode2":""}</vt:lpwstr>
  </property>
</Properties>
</file>